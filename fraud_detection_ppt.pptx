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82296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663440"/>
            <a:ext cx="82296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💳 신용카드 이상거래 탐지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6E4F0"/>
                </a:solidFill>
                <a:latin typeface="맑은 고딕"/>
              </a:rPr>
              <a:t>Credit Card Fraud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6E4F0"/>
                </a:solidFill>
                <a:latin typeface="맑은 고딕"/>
              </a:rPr>
              <a:t>머신러닝 기반 불균형 이진 분류 프로젝트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E4F0"/>
                </a:solidFill>
                <a:latin typeface="맑은 고딕"/>
              </a:rPr>
              <a:t>284,807건 거래   |   사기 비율 0.17%   |   9개 모델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E4F0"/>
                </a:solidFill>
                <a:latin typeface="맑은 고딕"/>
              </a:rPr>
              <a:t>ksh1004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0"/>
                </a:solidFill>
                <a:latin typeface="맑은 고딕"/>
              </a:rPr>
              <a:t>왜 이 문제가 어려운가?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8412480" cy="137160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맑은 고딕"/>
              </a:rPr>
              <a:t>핵심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3564"/>
                </a:solidFill>
                <a:latin typeface="맑은 고딕"/>
              </a:rPr>
              <a:t>"전부 정상" 이라고만 예측해도 정확도 99.8%
→ Accuracy는 의미 없음. F1-Score · AUC-ROC · Recall로 평가해야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97480"/>
            <a:ext cx="2651760" cy="14630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564"/>
                </a:solidFill>
                <a:latin typeface="맑은 고딕"/>
              </a:rPr>
              <a:t>🎯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27248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맑은 고딕"/>
              </a:rPr>
              <a:t>사기 거래를 높은 Recall로 탐지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697480"/>
            <a:ext cx="2651760" cy="14630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564"/>
                </a:solidFill>
                <a:latin typeface="맑은 고딕"/>
              </a:rPr>
              <a:t>📊 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127248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맑은 고딕"/>
              </a:rPr>
              <a:t>Kaggle Credit Card Fraud (284,807건)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697480"/>
            <a:ext cx="2651760" cy="14630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564"/>
                </a:solidFill>
                <a:latin typeface="맑은 고딕"/>
              </a:rPr>
              <a:t>🤖 방법론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127248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맑은 고딕"/>
              </a:rPr>
              <a:t>9개 모델 비교 + SMOTE 불균형 처리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43400"/>
            <a:ext cx="8412480" cy="2148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4074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맑은 고딕"/>
              </a:rPr>
              <a:t>📐 평가 지표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0060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• Recall(탐지율):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800600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실제 사기 중 모델이 탐지한 비율 → 놓치면 금전 피해, 가장 중요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• Precision(정밀도):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120640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사기 예측 중 실제 사기 비율 → 오탐 시 고객 불편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4068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• F1-Score: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440680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Precision + Recall 조화 평균 → 불균형 데이터의 종합 지표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• AUC-ROC: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760720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임계값 무관 전체 판별력 → 1에 가까울수록 좋음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데이터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0"/>
                </a:solidFill>
                <a:latin typeface="맑은 고딕"/>
              </a:rPr>
              <a:t>Kaggle - Credit Card Fraud Detection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931920" cy="53035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맑은 고딕"/>
              </a:rPr>
              <a:t>📋 데이터 기본 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출처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664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Kaggle (ULB 머신러닝 그룹)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3113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총 거래 건수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2311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284,807건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9806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사기 건수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7980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492건 (0.17%)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6499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정상 건수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364991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284,315건 (99.83%)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특성 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9319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30개 (V1~V28, Amount, Time)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988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타겟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4988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Class (0=정상, 1=사기)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6577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수집 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06577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2013년 9월 (이틀간)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1143000"/>
            <a:ext cx="429768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120700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맑은 고딕"/>
              </a:rPr>
              <a:t>🔍 컬럼 설명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1664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166420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첫 거래로부터 경과 시간(초)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1671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V1 ~ V28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21671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PCA로 익명화된 거래 특성
원본 컬럼명은 개인정보 보호로 비공개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8254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Amount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2825496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거래 금액 (달러)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328415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맑은 고딕"/>
              </a:rPr>
              <a:t>Class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3328415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0 = 정상 거래
1 = 사기 거래 (타겟)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02920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D7D31"/>
                </a:solidFill>
                <a:latin typeface="맑은 고딕"/>
              </a:rPr>
              <a:t>⚠️ V1~V28은 이미 PCA 정규화 완료
Amount, Time만 추가 정규화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데이터 특성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0"/>
                </a:solidFill>
                <a:latin typeface="맑은 고딕"/>
              </a:rPr>
              <a:t>극심한 클래스 불균형 — 사기 거래는 0.17%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8412480" cy="1645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맑은 고딕"/>
              </a:rPr>
              <a:t>📊 클래스 분포 (전체 284,807건)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64208"/>
            <a:ext cx="7772400" cy="36576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09928"/>
            <a:ext cx="7498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정상 거래  284,315건  (99.83%)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21408"/>
            <a:ext cx="13716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2356" y="2121408"/>
            <a:ext cx="7758683" cy="3657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7128"/>
            <a:ext cx="7498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사기 거래  492건  (0.17%) ◀ 이것이 탐지 대상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2697480" cy="374903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8072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💰 거래 금액 패턴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24612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정상 거래 평균: $88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831335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사기 거래 평균: $122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416552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사기는 소액(1~100달러) 비중 높음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5001768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소액 테스트 후 고액 결제 패턴 존재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5586983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정상 거래는 넓은 금액대에 분산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743200"/>
            <a:ext cx="2697480" cy="3749039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128" y="28072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맑은 고딕"/>
              </a:rPr>
              <a:t>⏰ 시간대 패턴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324612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새벽 시간대(0~6시) 사기 집중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3831335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정상 거래는 낮 시간대 집중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4416552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카드 도용 후 빠른 연속 결제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5001768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Time 컬럼: 0~172,792초(약 48시간)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5586983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새벽 거래는 이상 탐지 신호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743200"/>
            <a:ext cx="2697480" cy="3749039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28072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맑은 고딕"/>
              </a:rPr>
              <a:t>📐 피처 분포 패턴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24612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V14, V17, V12가 사기 탐지 핵심 피처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3831335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사기 거래는 V14값이 매우 낮음(-10 이하)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416552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정상 거래의 V 피처는 0 근방에 집중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5001768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사기는 극단값(양/음 모두)에 위치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586983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• PCA 변환으로 해석은 제한적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사기 패턴 심층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0"/>
                </a:solidFill>
                <a:latin typeface="맑은 고딕"/>
              </a:rPr>
              <a:t>왜 사기 거래는 극소수이며, 어떤 특징을 가지는가?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8412480" cy="100584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맑은 고딕"/>
              </a:rPr>
              <a:t>❓ 왜 사기는 0.17%밖에 없을까?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564"/>
                </a:solidFill>
                <a:latin typeface="맑은 고딕"/>
              </a:rPr>
              <a:t>카드사의 실시간 감지 시스템으로 대부분 차단되어 데이터에 남는 건수가 적고, 사기범도 들키지 않기 위해 정상처럼 보이는 소규모 거래를 선택합니다.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4023360" cy="192024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0487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맑은 고딕"/>
              </a:rPr>
              <a:t>💸  소액 테스트 패턴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39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카드 도용 직후 1~10달러 소액으로
사용 가능 여부를 먼저 테스트.
성공하면 고액 결제로 이어짐.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2331720"/>
            <a:ext cx="4023360" cy="19202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0487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맑은 고딕"/>
              </a:rPr>
              <a:t>🌙  새벽 시간대 집중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34639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자동화 도구를 이용한 사기가
새벽 0~6시에 집중.
모니터링 공백을 노린 패턴.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34840"/>
            <a:ext cx="4023360" cy="192024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50799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맑은 고딕"/>
              </a:rPr>
              <a:t>⚡  짧은 시간 내 반복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37759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수 분~수십 분 사이에 같은 카드로
여러 번 결제. 정상 소비 행동과
다른 이상 빈도 패턴.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4434840"/>
            <a:ext cx="4023360" cy="192024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450799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78644"/>
                </a:solidFill>
                <a:latin typeface="맑은 고딕"/>
              </a:rPr>
              <a:t>📉  V14 극단값 분포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937759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모델이 찾아낸 핵심 패턴.
사기 거래의 V14 값은 -10 이하로
정상 범위(-3~3)를 크게 벗어남.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648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→ 모델은 이 미묘한 패턴 차이를 통계적으로 학습해 사기를 구별합니다.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전처리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0"/>
                </a:solidFill>
                <a:latin typeface="맑은 고딕"/>
              </a:rPr>
              <a:t>데이터를 모델이 학습하기 좋은 형태로 변환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8412480" cy="16276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52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맑은 고딕"/>
              </a:rPr>
              <a:t>정규화 (StandardScaler)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18488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Amount($0~$25,000)와 Time(초) 스케일이 V1~V28과 달라
모델이 큰 값에 편향될 수 있음
→ 각 컬럼에 독립된 Scaler 적용 (평균=0, 표준편차=1)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맑은 고딕"/>
              </a:rPr>
              <a:t>⚠️ 컬럼마다 독립 Scaler — 하나의 Scaler로 순서대로 처리하면
   두 번째 fit()이 첫 번째 기준을 덮어씀 (버그 발생 지점)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80360"/>
            <a:ext cx="8412480" cy="162763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71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90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맑은 고딕"/>
              </a:rPr>
              <a:t>훈련/테스트 분리 (8:2)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55848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전체 데이터의 80%는 학습용, 20%는 성능 측정용으로 분리
→ 테스트 데이터는 학습에 절대 사용하지 않음 (현실 시뮬레이션)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31920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맑은 고딕"/>
              </a:rPr>
              <a:t>stratify=y 옵션: 분리 후에도 사기 비율(0.17%) 동일 유지
   없으면 사기가 한쪽에 몰릴 수 있음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17720"/>
            <a:ext cx="8412480" cy="1627632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5029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7091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274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맑은 고딕"/>
              </a:rPr>
              <a:t>SMOTE (불균형 해소)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93208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훈련 데이터: 정상 227,451건 vs 사기 394건 → 약 578:1 불균형
→ SMOTE로 사기 데이터를 227,451건으로 증강 (1:1 균형)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669279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맑은 고딕"/>
              </a:rPr>
              <a:t>⚠️ 테스트 데이터에는 절대 적용 금지
   현실에 없는 가상 데이터로 평가하면 성능이 왜곡됨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사용 모델 ① — 기초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0"/>
                </a:solidFill>
                <a:latin typeface="맑은 고딕"/>
              </a:rPr>
              <a:t>5가지 고전 머신러닝 분류 알고리즘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15568"/>
            <a:ext cx="8412480" cy="10058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맑은 고딕"/>
              </a:rPr>
              <a:t>로지스틱 회귀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170432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각 피처에 가중치를 곱해 합산 → 시그모이드 함수로 0~1 확률 변환 → 0.5 기준으로 정상/사기 판정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682495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맑은 고딕"/>
              </a:rPr>
              <a:t>→ 빠르고 해석이 쉬움. 선형 경계만 학습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8412480" cy="10058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94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맑은 고딕"/>
              </a:rPr>
              <a:t>결정 트리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249424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"V14 &lt; -5?" 같은 조건 질문을 반복해 트리를 쌓아 분류. max_depth=10으로 과적합 제한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76148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맑은 고딕"/>
              </a:rPr>
              <a:t>→ 직관적. 단독 사용 시 과적합 위험 → 앙상블로 발전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73552"/>
            <a:ext cx="8412480" cy="100584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28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KNN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328416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새 거래와 가장 비슷한 5개 이웃을 찾아 다수결로 정상/사기 판정. 이번 실험 F1 1위(0.859)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8404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맑은 고딕"/>
              </a:rPr>
              <a:t>→ 직관적이지만 데이터가 클수록 느려짐 (O(n))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52544"/>
            <a:ext cx="8412480" cy="10058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407407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맑은 고딕"/>
              </a:rPr>
              <a:t>나이브 베이즈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407407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각 피처가 독립이라 가정 + 조건부 확률로 클래스 판정. 매우 빠름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91947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맑은 고딕"/>
              </a:rPr>
              <a:t>→ 독립 가정이 맞지 않는 데이터에선 성능 제한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31536"/>
            <a:ext cx="8412480" cy="10058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48639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맑은 고딕"/>
              </a:rPr>
              <a:t>SVM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5486399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두 클래스 사이 여백(margin)을 최대화하는 경계 탐색. RBF 커널로 비선형 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599846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맑은 고딕"/>
              </a:rPr>
              <a:t>→ 고차원에 강하나 O(n²) 복잡도 → 1만 건 샘플로 학습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맑은 고딕"/>
              </a:rPr>
              <a:t>★ KNN이 F1-Score 1위 — 이웃 기반 유사도가 이 데이터의 사기 패턴과 잘 맞음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사용 모델 ② — 앙상블 &amp; 딥러닝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0"/>
                </a:solidFill>
                <a:latin typeface="맑은 고딕"/>
              </a:rPr>
              <a:t>여러 모델의 결합과 신경망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8412480" cy="3200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맑은 고딕"/>
              </a:rPr>
              <a:t>🌲 앙상블 모델 — 여러 모델을 결합해 더 강한 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맑은 고딕"/>
              </a:rPr>
              <a:t>랜덤 포레스트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627632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결정 트리 100개를 서로 다른 데이터·피처 조합으로 학습 → 다수결
단일 트리보다 안정적, 과적합에 강함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6276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8644"/>
                </a:solidFill>
                <a:latin typeface="맑은 고딕"/>
              </a:rPr>
              <a:t>F1: 0.821  AUC: 0.969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963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맑은 고딕"/>
              </a:rPr>
              <a:t>XGBoost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496312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이전 트리의 오류에 집중해 다음 트리를 학습 (Gradient Boosting)
scale_pos_weight로 불균형 자동 보정 (정상/사기 비율 = 578)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4963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8644"/>
                </a:solidFill>
                <a:latin typeface="맑은 고딕"/>
              </a:rPr>
              <a:t>F1: 0.602  AUC: 0.978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649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맑은 고딕"/>
              </a:rPr>
              <a:t>LightGBM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364991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XGBoost와 같은 부스팅이지만 리프 단위 성장으로 더 빠름
금융권 실무에서 속도·성능 균형으로 가장 많이 사용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364991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8644"/>
                </a:solidFill>
                <a:latin typeface="맑은 고딕"/>
              </a:rPr>
              <a:t>F1: 0.640  AUC: 0.969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8412480" cy="2103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  <a:latin typeface="맑은 고딕"/>
              </a:rPr>
              <a:t>🧠 딥러닝 모델 — 뇌 뉴런 구조를 모방한 신경망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834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맑은 고딕"/>
              </a:rPr>
              <a:t>신경망(MLP) 구조: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892040"/>
            <a:ext cx="1371600" cy="640080"/>
          </a:xfrm>
          <a:prstGeom prst="rect">
            <a:avLst/>
          </a:prstGeom>
          <a:solidFill>
            <a:srgbClr val="D6E4F0"/>
          </a:solidFill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입력층
(30개 피처)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5074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564"/>
                </a:solidFill>
                <a:latin typeface="맑은 고딕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892040"/>
            <a:ext cx="1188720" cy="640080"/>
          </a:xfrm>
          <a:prstGeom prst="rect">
            <a:avLst/>
          </a:prstGeom>
          <a:solidFill>
            <a:srgbClr val="D6E4F0"/>
          </a:solidFill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은닉층 1
(64 뉴런)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5074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564"/>
                </a:solidFill>
                <a:latin typeface="맑은 고딕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892040"/>
            <a:ext cx="1188720" cy="640080"/>
          </a:xfrm>
          <a:prstGeom prst="rect">
            <a:avLst/>
          </a:prstGeom>
          <a:solidFill>
            <a:srgbClr val="D6E4F0"/>
          </a:solidFill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은닉층 2
(32 뉴런)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5074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564"/>
                </a:solidFill>
                <a:latin typeface="맑은 고딕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892040"/>
            <a:ext cx="1097280" cy="640080"/>
          </a:xfrm>
          <a:prstGeom prst="rect">
            <a:avLst/>
          </a:prstGeom>
          <a:solidFill>
            <a:srgbClr val="1F3564"/>
          </a:solidFill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출력층
(정상/사기)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875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7D31"/>
                </a:solidFill>
                <a:latin typeface="맑은 고딕"/>
              </a:rPr>
              <a:t>early_stopping=True: 검증 성능이 개선되지 않으면 조기 종료 → 과적합 방지  |  F1: 0.760  AUC: 0.970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모델별 학습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0"/>
                </a:solidFill>
                <a:latin typeface="맑은 고딕"/>
              </a:rPr>
              <a:t>모든 모델에 동일한 데이터를 쓰지 않는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4069080" cy="53035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맑은 고딕"/>
              </a:rPr>
              <a:t>📗 SMOTE 데이터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564"/>
                </a:solidFill>
                <a:latin typeface="맑은 고딕"/>
              </a:rPr>
              <a:t>로지스틱 회귀
결정 트리
랜덤 포레스트
XGBoost
LightGBM
신경망(MLP)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1188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이유:
SMOTE로 증강된 45만 건 데이터로
학습 → 사기 패턴을 더 많이
학습할 수 있음
이 모델들은 대용량 데이터에서도
충분히 빠르게 학습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143000"/>
            <a:ext cx="4069080" cy="530352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20700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맑은 고딕"/>
              </a:rPr>
              <a:t>📕 원본 데이터 사용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66420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564"/>
                </a:solidFill>
                <a:latin typeface="맑은 고딕"/>
              </a:rPr>
              <a:t>KNN
나이브 베이즈
SVM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69748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이유:
KNN: 45만 건 전체를 매 예측마다
참조 → 매우 느림 (O(n))
SVM: O(n²) 복잡도로 23만 건
학습 시 수십 분 소요
→ 약 1만 건으로 샘플링
나이브 베이즈: 대용량 증강 데이터가
독립 가정을 더 크게 위반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6492240"/>
            <a:ext cx="8412480" cy="29260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공통: RANDOM_STATE = 111 고정 → 어떤 환경에서 실행해도 동일한 결과 재현 보장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성능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0"/>
                </a:solidFill>
                <a:latin typeface="맑은 고딕"/>
              </a:rPr>
              <a:t>F1-Score 기준 순위 — 불균형 데이터의 핵심 지표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466344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1207008"/>
            <a:ext cx="429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순위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655064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207008"/>
            <a:ext cx="16184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모델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170432"/>
            <a:ext cx="1060704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5456" y="1207008"/>
            <a:ext cx="10241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F1-Score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170432"/>
            <a:ext cx="1060704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1207008"/>
            <a:ext cx="10241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AUC-ROC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170432"/>
            <a:ext cx="1060704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1207008"/>
            <a:ext cx="10241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1170432"/>
            <a:ext cx="1060704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97296" y="1207008"/>
            <a:ext cx="10241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Precision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72768"/>
            <a:ext cx="466344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" y="1636776"/>
            <a:ext cx="429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0000"/>
                </a:solidFill>
                <a:latin typeface="맑은 고딕"/>
              </a:rPr>
              <a:t>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1572768"/>
            <a:ext cx="1655064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1636776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0000"/>
                </a:solidFill>
                <a:latin typeface="맑은 고딕"/>
              </a:rPr>
              <a:t>KNN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1572768"/>
            <a:ext cx="1060704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05456" y="1636776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00000"/>
                </a:solidFill>
                <a:latin typeface="맑은 고딕"/>
              </a:rPr>
              <a:t>0.859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1572768"/>
            <a:ext cx="1060704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2736" y="1636776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맑은 고딕"/>
              </a:rPr>
              <a:t>0.944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572768"/>
            <a:ext cx="1060704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0016" y="1636776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맑은 고딕"/>
              </a:rPr>
              <a:t>0.806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1572768"/>
            <a:ext cx="1060704" cy="4389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97296" y="1636776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맑은 고딕"/>
              </a:rPr>
              <a:t>0.919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048256"/>
            <a:ext cx="46634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" y="2112264"/>
            <a:ext cx="429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2048256"/>
            <a:ext cx="165506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2112264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랜덤 포레스트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2048256"/>
            <a:ext cx="106070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05456" y="2112264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0.821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2048256"/>
            <a:ext cx="106070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02736" y="2112264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0.969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2048256"/>
            <a:ext cx="106070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00016" y="2112264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0.816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2048256"/>
            <a:ext cx="106070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97296" y="2112264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0.825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523744"/>
            <a:ext cx="46634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2587751"/>
            <a:ext cx="429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2523744"/>
            <a:ext cx="16550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" y="2587751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신경망(MLP)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68880" y="2523744"/>
            <a:ext cx="106070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05456" y="2587751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0.760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66160" y="2523744"/>
            <a:ext cx="106070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02736" y="2587751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0.970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2523744"/>
            <a:ext cx="106070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00016" y="2587751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0.806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2523744"/>
            <a:ext cx="106070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97296" y="2587751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0.718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2999232"/>
            <a:ext cx="46634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0896" y="3063240"/>
            <a:ext cx="429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2999232"/>
            <a:ext cx="165506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3816" y="3063240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LightGBM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68880" y="2999232"/>
            <a:ext cx="106070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05456" y="3063240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0.640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66160" y="2999232"/>
            <a:ext cx="106070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02736" y="3063240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0.969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63440" y="2999232"/>
            <a:ext cx="106070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00016" y="3063240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0.888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60720" y="2999232"/>
            <a:ext cx="106070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97296" y="3063240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0.500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474720"/>
            <a:ext cx="46634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0896" y="3538727"/>
            <a:ext cx="429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" y="3474720"/>
            <a:ext cx="16550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3816" y="3538727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XGBoost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68880" y="3474720"/>
            <a:ext cx="106070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05456" y="3538727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0.602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66160" y="3474720"/>
            <a:ext cx="106070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02736" y="3538727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0.978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63440" y="3474720"/>
            <a:ext cx="106070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00016" y="3538727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0.857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60720" y="3474720"/>
            <a:ext cx="106070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797296" y="3538727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0.464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3950208"/>
            <a:ext cx="46634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10896" y="4014216"/>
            <a:ext cx="429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7240" y="3950208"/>
            <a:ext cx="165506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13816" y="4014216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SVM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68880" y="3950208"/>
            <a:ext cx="106070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505456" y="4014216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0.214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566160" y="3950208"/>
            <a:ext cx="106070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02736" y="4014216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0.977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663440" y="3950208"/>
            <a:ext cx="106070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00016" y="4014216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0.898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760720" y="3950208"/>
            <a:ext cx="106070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797296" y="4014216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0.122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4425696"/>
            <a:ext cx="46634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10896" y="4489704"/>
            <a:ext cx="429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7240" y="4425696"/>
            <a:ext cx="16550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13816" y="4489704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결정 트리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68880" y="4425696"/>
            <a:ext cx="106070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505456" y="4489704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0.144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566160" y="4425696"/>
            <a:ext cx="106070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02736" y="4489704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0.895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63440" y="4425696"/>
            <a:ext cx="106070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00016" y="4489704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0.806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760720" y="4425696"/>
            <a:ext cx="106070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797296" y="4489704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0.079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4901184"/>
            <a:ext cx="46634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10896" y="4965192"/>
            <a:ext cx="429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77240" y="4901184"/>
            <a:ext cx="165506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13816" y="4965192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나이브 베이즈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468880" y="4901184"/>
            <a:ext cx="106070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505456" y="4965192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0.110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566160" y="4901184"/>
            <a:ext cx="106070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602736" y="4965192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0.963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63440" y="4901184"/>
            <a:ext cx="106070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00016" y="4965192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0.847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60720" y="4901184"/>
            <a:ext cx="1060704" cy="43891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97296" y="4965192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0.059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4320" y="5376672"/>
            <a:ext cx="46634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10896" y="5440680"/>
            <a:ext cx="429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9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77240" y="5376672"/>
            <a:ext cx="16550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13816" y="5440680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로지스틱 회귀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468880" y="5376672"/>
            <a:ext cx="106070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505456" y="5440680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0.109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566160" y="5376672"/>
            <a:ext cx="106070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602736" y="5440680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0.970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63440" y="5376672"/>
            <a:ext cx="106070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700016" y="5440680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0.918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760720" y="5376672"/>
            <a:ext cx="106070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797296" y="5440680"/>
            <a:ext cx="1024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0.058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74320" y="6336792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맑은 고딕"/>
              </a:rPr>
              <a:t>* SVM: 약 1만 건 샘플 학습으로 성능 제약 (전체 학습 시 향상 예상)
* XGBoost/LightGBM: 하이퍼파라미터 튜닝 시 F1 0.85+ 달성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결론 및 핵심 인사이트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0"/>
                </a:solidFill>
                <a:latin typeface="맑은 고딕"/>
              </a:rPr>
              <a:t>이 프로젝트에서 배운 것들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8412480" cy="10058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09728" cy="10058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97864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💡  Accuracy는 불균형 데이터에서 의미 없다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"전부 정상" 예측도 정확도 99.8%. 반드시 F1-Score · Recall · AUC-ROC로 평가해야 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8412480" cy="10058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109728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4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맑은 고딕"/>
              </a:rPr>
              <a:t>💡  SMOTE는 강력하지만 올바른 사용법이 중요하다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9748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테스트 데이터에 적용하면 현실과 다른 왜곡된 성능이 나옵니다. 훈련 데이터에만 적용해야 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37560"/>
            <a:ext cx="8412480" cy="10058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337560"/>
            <a:ext cx="109728" cy="100584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92424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8644"/>
                </a:solidFill>
                <a:latin typeface="맑은 고딕"/>
              </a:rPr>
              <a:t>💡  사기 탐지에서는 Recall이 Precision보다 우선이다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9476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사기를 놓치면(FN) 금전 손실. 오탐(FP)은 고객 불편 수준. 비용이 다릅니다.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34840"/>
            <a:ext cx="8412480" cy="10058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43484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89703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맑은 고딕"/>
              </a:rPr>
              <a:t>💡  앙상블이 항상 이기지는 않는다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89204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하이퍼파라미터 튜닝 없이는 KNN(기초 모델)이 RF/XGB/LGBM을 F1 기준으로 이겼습니다.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532120"/>
            <a:ext cx="8412480" cy="10058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532120"/>
            <a:ext cx="109728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586983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564"/>
                </a:solidFill>
                <a:latin typeface="맑은 고딕"/>
              </a:rPr>
              <a:t>💡  모든 모델에 같은 전략을 쓸 수 없다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98932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SVM은 O(n²) 속도 문제로 샘플링 필요. KNN/나이브 베이즈는 SMOTE 데이터가 역효과. 모델별 맞춤 전략이 필요합니다.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537960"/>
            <a:ext cx="8412480" cy="25603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데이터의 특성을 이해하고, 모델에 맞는 전략을 선택하는 것이 핵심입니다.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