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07877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87F5B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Credit Card Fraud Detection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2115108"/>
            <a:ext cx="85725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신용카드 이상거래</a:t>
            </a:r>
            <a:r>
              <a:rPr lang="en-US" sz="33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33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탐지 프로젝트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28663" y="3383793"/>
            <a:ext cx="8415338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머신러닝 기반 불균형 이진 분류 프로젝트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86500" y="0"/>
            <a:ext cx="2857500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7" name="Text 4"/>
          <p:cNvSpPr/>
          <p:nvPr/>
        </p:nvSpPr>
        <p:spPr>
          <a:xfrm>
            <a:off x="6170414" y="1415355"/>
            <a:ext cx="3089672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9FA">
                    <a:alpha val="1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26709" y="1906488"/>
            <a:ext cx="237708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9FA">
                    <a:alpha val="1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ANALYSIS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70427" y="2397621"/>
            <a:ext cx="288964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9FA">
                    <a:alpha val="1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FRAUD DETECTION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27564" y="2888754"/>
            <a:ext cx="2975372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9FA">
                    <a:alpha val="1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SMOTE ALGORITHM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14157" y="3379887"/>
            <a:ext cx="320218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9FA">
                    <a:alpha val="1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F1-SCORE OPTIMIZED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9609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625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단순 정확도보다 실질적 탐지력이 중요한 이유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85813" y="1684818"/>
            <a:ext cx="3700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핵심 문제: 정확도의 함정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85813" y="1988428"/>
            <a:ext cx="37004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전체 거래 중 99.83%가 정상인 데이터셋에서는 </a:t>
            </a:r>
            <a:r>
              <a:rPr lang="en-US" sz="9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"모두 정상"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이라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고만 예측해도 99.8%의 정확도가 나옵니다. 이는 모델이 사기를 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전혀 잡지 못해도 높은 점수를 받는 모순을 낳습니다.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85813" y="2891331"/>
            <a:ext cx="3700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평가 지표의 전환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3194940"/>
            <a:ext cx="37004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Accuracy는 무의미합니다. 실제 사기를 얼마나 놓치지 않는지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(Recall)와 오탐을 얼마나 줄이는지(Precision)의 조화인 </a:t>
            </a:r>
            <a:r>
              <a:rPr lang="en-US" sz="9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F1-Score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와 </a:t>
            </a:r>
            <a:r>
              <a:rPr lang="en-US" sz="9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AUC-ROC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를 핵심 지표로 삼아야 합니다.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5813" y="4057728"/>
            <a:ext cx="3700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비즈니스 가치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5813" y="4361337"/>
            <a:ext cx="37004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사기를 놓칠 경우 발생하는 직접적인 금전적 피해를 최소화하기 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위해 </a:t>
            </a:r>
            <a:r>
              <a:rPr lang="en-US" sz="9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Recall(재현율)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지표를 최우선으로 고려하여 탐지 시스템을 </a:t>
            </a:r>
            <a:r>
              <a:rPr lang="en-US" sz="9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설계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16414" y="1593378"/>
            <a:ext cx="3857625" cy="2286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289" y="1294550"/>
            <a:ext cx="3571875" cy="21431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59069" y="3468613"/>
            <a:ext cx="1857375" cy="821531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Text 9"/>
          <p:cNvSpPr/>
          <p:nvPr/>
        </p:nvSpPr>
        <p:spPr>
          <a:xfrm>
            <a:off x="4966225" y="3575769"/>
            <a:ext cx="175021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RECALL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4966225" y="3711500"/>
            <a:ext cx="175021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실제 사기 중 탐지 비율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859319" y="3468613"/>
            <a:ext cx="1857375" cy="821531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6" name="Text 12"/>
          <p:cNvSpPr/>
          <p:nvPr/>
        </p:nvSpPr>
        <p:spPr>
          <a:xfrm>
            <a:off x="6966475" y="3575769"/>
            <a:ext cx="175021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PRECISION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966475" y="3711500"/>
            <a:ext cx="175021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사기 예측 중 실제 비율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859069" y="4063081"/>
            <a:ext cx="1857375" cy="821531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9" name="Text 15"/>
          <p:cNvSpPr/>
          <p:nvPr/>
        </p:nvSpPr>
        <p:spPr>
          <a:xfrm>
            <a:off x="4966225" y="4170237"/>
            <a:ext cx="175021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F1-SCORE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4966225" y="4305968"/>
            <a:ext cx="175021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정밀도와 재현율의 조화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859319" y="4063080"/>
            <a:ext cx="1857375" cy="821531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2" name="Text 18"/>
          <p:cNvSpPr/>
          <p:nvPr/>
        </p:nvSpPr>
        <p:spPr>
          <a:xfrm>
            <a:off x="6966475" y="4170236"/>
            <a:ext cx="175021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AUC-ROC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966475" y="4305968"/>
            <a:ext cx="175021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전체적인 판별 성능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25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데이터 프로파일링: 0.17%의 사기 거래를 찾아서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31832"/>
            <a:ext cx="3957638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31832"/>
            <a:ext cx="14288" cy="714375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588982"/>
            <a:ext cx="36718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SOURCE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14375" y="1753288"/>
            <a:ext cx="367188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Kaggle (ULB Machine Learning Group)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71500" y="2303357"/>
            <a:ext cx="3957638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303357"/>
            <a:ext cx="14288" cy="714375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360507"/>
            <a:ext cx="36718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TRANSACTIONS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14375" y="2524813"/>
            <a:ext cx="3671888" cy="24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284,807 건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71500" y="3074882"/>
            <a:ext cx="3957638" cy="7679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074882"/>
            <a:ext cx="14288" cy="767953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3132032"/>
            <a:ext cx="36718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DISTRIBUTION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14375" y="3296338"/>
            <a:ext cx="36718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정상: 284,315건 (99.83%)</a:t>
            </a:r>
            <a:r>
              <a:rPr lang="en-US" sz="12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12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사기: 492건 (0.17%)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14863" y="1531832"/>
            <a:ext cx="3957638" cy="2482453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7" name="Text 14"/>
          <p:cNvSpPr/>
          <p:nvPr/>
        </p:nvSpPr>
        <p:spPr>
          <a:xfrm>
            <a:off x="4757738" y="1646132"/>
            <a:ext cx="36718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8F9FA">
                    <a:alpha val="9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COLUMN DESCRIPTIONS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757738" y="1810438"/>
            <a:ext cx="36718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V1 ~ V28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57738" y="2012249"/>
            <a:ext cx="36718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개인정보 보호를 위해 PCA로 익명화된 거래 특성. 이미 정규화가 완료된 상태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7738" y="2403704"/>
            <a:ext cx="36718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Time &amp; Amount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7738" y="2605515"/>
            <a:ext cx="36718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첫 거래 후 경과 시간(초) 및 거래 금액(달러). 원본 데이터 그대로의 스케일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57738" y="2996971"/>
            <a:ext cx="36718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(Target)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7738" y="3198781"/>
            <a:ext cx="36718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 = 정상 거래, 1 = 사기 거래. 우리가 예측해야 할 핵심 타겟 변수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57738" y="3430228"/>
            <a:ext cx="3671888" cy="539353"/>
          </a:xfrm>
          <a:prstGeom prst="rect">
            <a:avLst/>
          </a:prstGeom>
          <a:solidFill>
            <a:srgbClr val="087F5B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757738" y="3430228"/>
            <a:ext cx="14288" cy="539353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26" name="Text 23"/>
          <p:cNvSpPr/>
          <p:nvPr/>
        </p:nvSpPr>
        <p:spPr>
          <a:xfrm>
            <a:off x="4757738" y="3430228"/>
            <a:ext cx="3671888" cy="539353"/>
          </a:xfrm>
          <a:prstGeom prst="rect">
            <a:avLst/>
          </a:prstGeom>
          <a:noFill/>
          <a:ln/>
        </p:spPr>
        <p:txBody>
          <a:bodyPr wrap="square" lIns="102108" tIns="68072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⚠️ 전처리 주의사항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V1~V28과 달리 Time, Amount는 스케일이 매우 크므로 </a:t>
            </a:r>
            <a:r>
              <a:rPr lang="en-US" sz="85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별도의 정규화 작업이 필요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625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이상거래의 결정적 단서: 시간, 금액, 그리고 패턴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803295"/>
            <a:ext cx="2523530" cy="3071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803295"/>
            <a:ext cx="14288" cy="3071813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6" name="Text 3"/>
          <p:cNvSpPr/>
          <p:nvPr/>
        </p:nvSpPr>
        <p:spPr>
          <a:xfrm>
            <a:off x="807244" y="2017607"/>
            <a:ext cx="216634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TEMPORAL PATTERN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7244" y="2246207"/>
            <a:ext cx="2166342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새벽 시간대의</a:t>
            </a: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비정상적 집중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7244" y="2797671"/>
            <a:ext cx="2166342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정상 거래는 활동량이 많은 낮 시간대에 집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중되지만, 사기 거래는 모니터링 공백을 노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린 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새벽 0~6시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사이에 빈번하게 발생합니다.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66492" y="1803295"/>
            <a:ext cx="2523530" cy="3071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366492" y="1803295"/>
            <a:ext cx="14288" cy="3071813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11" name="Text 8"/>
          <p:cNvSpPr/>
          <p:nvPr/>
        </p:nvSpPr>
        <p:spPr>
          <a:xfrm>
            <a:off x="3545086" y="2017607"/>
            <a:ext cx="216634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MONETARY PATTERN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545086" y="2246207"/>
            <a:ext cx="2166342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소액 테스트 후</a:t>
            </a: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고액 결제 시도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45086" y="2797671"/>
            <a:ext cx="2166342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카드 도용 직후 사용 가능 여부를 확인하기 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위해 </a:t>
            </a:r>
            <a:r>
              <a:rPr lang="en-US" sz="8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$1~$100 사이의 소액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을 먼저 결제한 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뒤, 성공 시 짧은 시간 내에 고액 결제를 반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복하는 경향을 보입니다.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04334" y="1803295"/>
            <a:ext cx="2525316" cy="3071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04334" y="1803295"/>
            <a:ext cx="14288" cy="3071813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16" name="Text 13"/>
          <p:cNvSpPr/>
          <p:nvPr/>
        </p:nvSpPr>
        <p:spPr>
          <a:xfrm>
            <a:off x="6284100" y="2017607"/>
            <a:ext cx="21669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STATISTICAL PATTERN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284100" y="2246207"/>
            <a:ext cx="2166956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핵심 피처 V14의</a:t>
            </a: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극단적 분포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84100" y="2797671"/>
            <a:ext cx="21669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통계적으로 사기 거래는 </a:t>
            </a:r>
            <a:r>
              <a:rPr lang="en-US" sz="8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V14 값이 -10 이</a:t>
            </a:r>
            <a:r>
              <a:rPr lang="en-US" sz="8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하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로 떨어지는 특징이 있으며, 이는 정상 범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위(-3~3)를 크게 벗어난 수치입니다.</a:t>
            </a:r>
            <a:endParaRPr lang="en-US" sz="8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00" y="3489136"/>
            <a:ext cx="2153841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625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데이터 전처리 파이프라인: 모델 학습의 기초 다지기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603270"/>
            <a:ext cx="2590781" cy="2828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603270"/>
            <a:ext cx="14288" cy="2828925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6" name="Text 3"/>
          <p:cNvSpPr/>
          <p:nvPr/>
        </p:nvSpPr>
        <p:spPr>
          <a:xfrm>
            <a:off x="2603283" y="1646132"/>
            <a:ext cx="48756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9ECE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3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762218"/>
            <a:ext cx="1143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50" y="2115834"/>
            <a:ext cx="236218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정규화 (Scaling)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2950" y="2385510"/>
            <a:ext cx="2362181" cy="6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StandardScaler를 사용하여 Amount와 Time의 스케일을 V1~V28과 맞춥니다. 평균 0, 표준편차 1로 변환하여 특정 피처에 대한 모델의 편향을 방지합니다.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42950" y="3134153"/>
            <a:ext cx="2362181" cy="614363"/>
          </a:xfrm>
          <a:prstGeom prst="rect">
            <a:avLst/>
          </a:prstGeom>
          <a:solidFill>
            <a:srgbClr val="C92A2A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742950" y="3134153"/>
            <a:ext cx="14288" cy="614363"/>
          </a:xfrm>
          <a:prstGeom prst="rect">
            <a:avLst/>
          </a:prstGeom>
          <a:solidFill>
            <a:srgbClr val="C92A2A"/>
          </a:solidFill>
          <a:ln/>
        </p:spPr>
      </p:sp>
      <p:sp>
        <p:nvSpPr>
          <p:cNvPr id="12" name="Text 8"/>
          <p:cNvSpPr/>
          <p:nvPr/>
        </p:nvSpPr>
        <p:spPr>
          <a:xfrm>
            <a:off x="742950" y="3134153"/>
            <a:ext cx="2362181" cy="614363"/>
          </a:xfrm>
          <a:prstGeom prst="rect">
            <a:avLst/>
          </a:prstGeom>
          <a:noFill/>
          <a:ln/>
        </p:spPr>
        <p:txBody>
          <a:bodyPr wrap="square" lIns="68072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92A2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⚠️ 주의</a:t>
            </a:r>
            <a:r>
              <a:rPr lang="en-US" sz="750" dirty="0">
                <a:solidFill>
                  <a:srgbClr val="C9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750" dirty="0">
                <a:solidFill>
                  <a:srgbClr val="C9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컬럼마다 독립된 Scaler를 적용해야 합니다. 하나의 </a:t>
            </a:r>
            <a:r>
              <a:rPr lang="en-US" sz="750" dirty="0">
                <a:solidFill>
                  <a:srgbClr val="C9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Scaler로 순차 처리 시 기준이 덮어씌워지는 버그가 </a:t>
            </a:r>
            <a:r>
              <a:rPr lang="en-US" sz="750" dirty="0">
                <a:solidFill>
                  <a:srgbClr val="C9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발생할 수 있습니다.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3333731" y="1603270"/>
            <a:ext cx="2590809" cy="2828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3333731" y="1603270"/>
            <a:ext cx="14288" cy="2828925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15" name="Text 11"/>
          <p:cNvSpPr/>
          <p:nvPr/>
        </p:nvSpPr>
        <p:spPr>
          <a:xfrm>
            <a:off x="5217309" y="1646132"/>
            <a:ext cx="578644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9ECE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3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31" y="176221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48031" y="2115834"/>
            <a:ext cx="236220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훈련/테스트 분리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448031" y="2385510"/>
            <a:ext cx="2362209" cy="6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전체 데이터를 8:2 비율로 분리합니다. </a:t>
            </a:r>
            <a:r>
              <a:rPr lang="en-US" sz="8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stratify=y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옵션을 사용하여 분리 후에도 사기 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거래 비율(0.17%)이 동일하게 유지되도록 보장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합니다.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448031" y="3134153"/>
            <a:ext cx="2362209" cy="471488"/>
          </a:xfrm>
          <a:prstGeom prst="rect">
            <a:avLst/>
          </a:prstGeom>
          <a:solidFill>
            <a:srgbClr val="087F5B">
              <a:alpha val="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3448031" y="3134153"/>
            <a:ext cx="14288" cy="471488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21" name="Text 16"/>
          <p:cNvSpPr/>
          <p:nvPr/>
        </p:nvSpPr>
        <p:spPr>
          <a:xfrm>
            <a:off x="3448031" y="3134153"/>
            <a:ext cx="2362209" cy="471488"/>
          </a:xfrm>
          <a:prstGeom prst="rect">
            <a:avLst/>
          </a:prstGeom>
          <a:noFill/>
          <a:ln/>
        </p:spPr>
        <p:txBody>
          <a:bodyPr wrap="square" lIns="68072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💡 핵심</a:t>
            </a:r>
            <a:r>
              <a:rPr lang="en-US" sz="750" dirty="0">
                <a:solidFill>
                  <a:srgbClr val="087F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750" dirty="0">
                <a:solidFill>
                  <a:srgbClr val="087F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테스트 데이터는 학습에 절대 사용하지 않으며, 오</a:t>
            </a:r>
            <a:r>
              <a:rPr lang="en-US" sz="750" dirty="0">
                <a:solidFill>
                  <a:srgbClr val="087F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직 최종 성능 측정용으로만 격리합니다.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6038841" y="1603270"/>
            <a:ext cx="2590781" cy="2828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6038841" y="1603270"/>
            <a:ext cx="14288" cy="2828925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24" name="Text 19"/>
          <p:cNvSpPr/>
          <p:nvPr/>
        </p:nvSpPr>
        <p:spPr>
          <a:xfrm>
            <a:off x="7924177" y="1646132"/>
            <a:ext cx="576858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9ECE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3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41" y="1762218"/>
            <a:ext cx="200025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53141" y="2115834"/>
            <a:ext cx="236218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불균형 해소 (SMOTE)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153141" y="2385510"/>
            <a:ext cx="2362181" cy="49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학습 데이터의 사기 건수를 정상 거래 건수와 동일하게 증강합니다. 이를 통해 모델이 희소한 사기 패턴을 충분히 학습할 수 있게 합니다.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153141" y="2968423"/>
            <a:ext cx="2362181" cy="614363"/>
          </a:xfrm>
          <a:prstGeom prst="rect">
            <a:avLst/>
          </a:prstGeom>
          <a:solidFill>
            <a:srgbClr val="C92A2A">
              <a:alpha val="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6153141" y="2968423"/>
            <a:ext cx="14288" cy="614363"/>
          </a:xfrm>
          <a:prstGeom prst="rect">
            <a:avLst/>
          </a:prstGeom>
          <a:solidFill>
            <a:srgbClr val="C92A2A"/>
          </a:solidFill>
          <a:ln/>
        </p:spPr>
      </p:sp>
      <p:sp>
        <p:nvSpPr>
          <p:cNvPr id="30" name="Text 24"/>
          <p:cNvSpPr/>
          <p:nvPr/>
        </p:nvSpPr>
        <p:spPr>
          <a:xfrm>
            <a:off x="6153141" y="2968423"/>
            <a:ext cx="2362181" cy="614363"/>
          </a:xfrm>
          <a:prstGeom prst="rect">
            <a:avLst/>
          </a:prstGeom>
          <a:noFill/>
          <a:ln/>
        </p:spPr>
        <p:txBody>
          <a:bodyPr wrap="square" lIns="68072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92A2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🚫 절대 금지</a:t>
            </a:r>
            <a:r>
              <a:rPr lang="en-US" sz="750" dirty="0">
                <a:solidFill>
                  <a:srgbClr val="C9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750" dirty="0">
                <a:solidFill>
                  <a:srgbClr val="C9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테스트 데이터에는 SMOTE를 적용하지 않습니다. </a:t>
            </a:r>
            <a:r>
              <a:rPr lang="en-US" sz="750" dirty="0">
                <a:solidFill>
                  <a:srgbClr val="C9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현실에 없는 가상 데이터로 평가하면 성능이 왜곡됩</a:t>
            </a:r>
            <a:r>
              <a:rPr lang="en-US" sz="750" dirty="0">
                <a:solidFill>
                  <a:srgbClr val="C9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니다.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4625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모델링 전략: 기초 알고리즘부터 딥러닝까지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690781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660420"/>
            <a:ext cx="73402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기초 모델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57213" y="1992604"/>
            <a:ext cx="2538403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로지스틱 회귀 &amp; 결정 트리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57213" y="2201559"/>
            <a:ext cx="253840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데이터의 선형 경계와 직관적인 규칙 기반 분류를 통해 베이스라인 성능을 측정합니다.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57213" y="2608752"/>
            <a:ext cx="2538403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KNN &amp; 나이브 베이즈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57213" y="2817707"/>
            <a:ext cx="253840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이웃 기반 유사도와 확률적 접근을 통해 사기 거래의 특이 패턴을 탐색합니다.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57213" y="3224901"/>
            <a:ext cx="253840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SVM (Support Vector Machine)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57213" y="3428498"/>
            <a:ext cx="253840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고차원 공간에서 클래스 간 마진을 최대화하여 정밀한 분류 경계를 형성합니다.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78" y="1690781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24253" y="1660420"/>
            <a:ext cx="90547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앙상블 모델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67078" y="1992604"/>
            <a:ext cx="2538403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랜덤 포레스트 (Random Forest)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367078" y="2201559"/>
            <a:ext cx="253840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다수의 결정 트리를 결합하여 과적합을 방지하고 예측의 안정성을 확보합니다.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367078" y="2551602"/>
            <a:ext cx="516136" cy="144661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7" name="Text 12"/>
          <p:cNvSpPr/>
          <p:nvPr/>
        </p:nvSpPr>
        <p:spPr>
          <a:xfrm>
            <a:off x="3367078" y="2551602"/>
            <a:ext cx="516136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9F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BAGGING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3367078" y="2781988"/>
            <a:ext cx="253840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XGBoost &amp; LightGBM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367078" y="2985585"/>
            <a:ext cx="253840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이전 모델의 오차를 보완하며 학습하는 부스팅 기법으로 최상의 성능을 도출합니다.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3367078" y="3335629"/>
            <a:ext cx="564356" cy="144661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21" name="Text 16"/>
          <p:cNvSpPr/>
          <p:nvPr/>
        </p:nvSpPr>
        <p:spPr>
          <a:xfrm>
            <a:off x="3367078" y="3335629"/>
            <a:ext cx="564356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9F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BOOSTING</a:t>
            </a:r>
            <a:endParaRPr lang="en-US" sz="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944" y="1690781"/>
            <a:ext cx="171450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34119" y="1660420"/>
            <a:ext cx="90547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딥러닝 모델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176944" y="1992604"/>
            <a:ext cx="2538431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다층 퍼셉트론 (MLP)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176944" y="2201559"/>
            <a:ext cx="25384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30개의 피처를 입력받아 복잡한 비선형 관계를 학습하는 신경망 구조를 설계합니다.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6176944" y="2608752"/>
            <a:ext cx="2538431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학습 최적화 전략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176944" y="2817707"/>
            <a:ext cx="25384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Early Stopping 기법을 적용하여 검증 성능이 정체될 때 학습을 조기 종료, 과적합을 방지합니다.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25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모델별 맞춤형 학습 전략의 필요성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88995"/>
            <a:ext cx="38862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88995"/>
            <a:ext cx="14288" cy="2286000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831870"/>
            <a:ext cx="35290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7F5B">
                    <a:alpha val="8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GROUP A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50094" y="2060470"/>
            <a:ext cx="35290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SMOTE 증강 데이터 활용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0094" y="2435516"/>
            <a:ext cx="35290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대용량 데이터 처리에 효율적인 모델들은 SMOTE로 증강된 45만 건의 데이터를 학습하여 희소한 사기 패턴을 더 정밀하게 학습합니다.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50094" y="2908399"/>
            <a:ext cx="352901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로지스틱 회귀, 결정 트리, 랜덤 포레스트,</a:t>
            </a:r>
            <a:r>
              <a:rPr lang="en-US" sz="75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
</a:t>
            </a:r>
            <a:r>
              <a:rPr lang="en-US" sz="75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XGBoost, LightGBM, 신경망(MLP)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686300" y="1688995"/>
            <a:ext cx="3886200" cy="22860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1" name="Shape 8"/>
          <p:cNvSpPr/>
          <p:nvPr/>
        </p:nvSpPr>
        <p:spPr>
          <a:xfrm>
            <a:off x="4686300" y="1688995"/>
            <a:ext cx="14288" cy="2286000"/>
          </a:xfrm>
          <a:prstGeom prst="rect">
            <a:avLst/>
          </a:prstGeom>
          <a:solidFill>
            <a:srgbClr val="495057"/>
          </a:solidFill>
          <a:ln/>
        </p:spPr>
      </p:sp>
      <p:sp>
        <p:nvSpPr>
          <p:cNvPr id="12" name="Text 9"/>
          <p:cNvSpPr/>
          <p:nvPr/>
        </p:nvSpPr>
        <p:spPr>
          <a:xfrm>
            <a:off x="4864894" y="1831870"/>
            <a:ext cx="35290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8F9FA">
                    <a:alpha val="8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GROUP B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864894" y="2060470"/>
            <a:ext cx="35290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원본 데이터 및 샘플링 활용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64894" y="2435516"/>
            <a:ext cx="35290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연산 복잡도가 높거나 데이터 증강 시 성능 왜곡이 우려되는 모델들은 원본 비율을 유지하거나 적절한 샘플링 전략을 병행합니다.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64894" y="2908399"/>
            <a:ext cx="352901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8F9F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KNN (속도 저하 방지), SVM (연산 복잡도 고려),</a:t>
            </a:r>
            <a:r>
              <a:rPr lang="en-US" sz="750" b="1" dirty="0">
                <a:solidFill>
                  <a:srgbClr val="F8F9F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
</a:t>
            </a:r>
            <a:r>
              <a:rPr lang="en-US" sz="750" b="1" dirty="0">
                <a:solidFill>
                  <a:srgbClr val="F8F9F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나이브 베이즈 (독립 가정 유지)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71500" y="4496488"/>
            <a:ext cx="1837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재현성 확보 (Reproducibility)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23542" y="4501846"/>
            <a:ext cx="579000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모든 실험에서 </a:t>
            </a:r>
            <a:r>
              <a:rPr lang="en-US" sz="8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RANDOM_STATE = 111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로 고정하여, 어떤 환경에서도 동일한 분석 결과가 도출되도록 신뢰성을 확보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625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성능 분석 결과: KNN과 랜덤 포레스트의 우세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731857"/>
            <a:ext cx="4531342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731857"/>
            <a:ext cx="14288" cy="3000375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6" name="Text 3"/>
          <p:cNvSpPr/>
          <p:nvPr/>
        </p:nvSpPr>
        <p:spPr>
          <a:xfrm>
            <a:off x="771525" y="1874732"/>
            <a:ext cx="53745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순위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308981" y="1874732"/>
            <a:ext cx="115505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모델명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464036" y="1874732"/>
            <a:ext cx="878570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F1-Score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342605" y="1874732"/>
            <a:ext cx="96641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AUC-ROC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309021" y="1874732"/>
            <a:ext cx="70809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Recall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771525" y="2189057"/>
            <a:ext cx="4245592" cy="317897"/>
          </a:xfrm>
          <a:prstGeom prst="rect">
            <a:avLst/>
          </a:prstGeom>
          <a:solidFill>
            <a:srgbClr val="087F5B">
              <a:alpha val="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1525" y="2189057"/>
            <a:ext cx="537456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95057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🥇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308981" y="2189057"/>
            <a:ext cx="1155055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95057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KNN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464036" y="2189057"/>
            <a:ext cx="878570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95057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0.859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342605" y="2189057"/>
            <a:ext cx="966415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95057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0.944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309021" y="2189057"/>
            <a:ext cx="708096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95057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0.806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771525" y="2506954"/>
            <a:ext cx="537456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🥈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308981" y="2506954"/>
            <a:ext cx="1155055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랜덤 포레스트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464036" y="2506954"/>
            <a:ext cx="878570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0.821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42605" y="2506954"/>
            <a:ext cx="966415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0.969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309021" y="2506954"/>
            <a:ext cx="708096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0.816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71525" y="2828423"/>
            <a:ext cx="537456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🥉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308981" y="2828423"/>
            <a:ext cx="1155055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신경망 (MLP)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464036" y="2828423"/>
            <a:ext cx="878570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0.760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342605" y="2828423"/>
            <a:ext cx="966415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309021" y="2828423"/>
            <a:ext cx="708096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0.806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71525" y="3149891"/>
            <a:ext cx="53745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308981" y="3149891"/>
            <a:ext cx="115505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LightGBM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464036" y="3149891"/>
            <a:ext cx="878570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0.640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342605" y="3149891"/>
            <a:ext cx="96641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0.969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309021" y="3149891"/>
            <a:ext cx="70809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0.888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71525" y="3464216"/>
            <a:ext cx="53745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308981" y="3464216"/>
            <a:ext cx="115505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464036" y="3464216"/>
            <a:ext cx="878570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0.602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342605" y="3464216"/>
            <a:ext cx="96641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0.978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309021" y="3464216"/>
            <a:ext cx="70809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0.857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71525" y="3924988"/>
            <a:ext cx="424559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* 불균형 데이터의 핵심 지표인 </a:t>
            </a:r>
            <a:r>
              <a:rPr lang="en-US" sz="7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F1-Score</a:t>
            </a:r>
            <a:r>
              <a:rPr lang="en-US" sz="7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기준으로 산정된 순위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445742" y="1731857"/>
            <a:ext cx="3183908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5445742" y="1731857"/>
            <a:ext cx="14288" cy="3000375"/>
          </a:xfrm>
          <a:prstGeom prst="rect">
            <a:avLst/>
          </a:prstGeom>
          <a:solidFill>
            <a:srgbClr val="212529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05" y="1874732"/>
            <a:ext cx="2882503" cy="2500313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602905" y="4446482"/>
            <a:ext cx="288387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087F5B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KNN</a:t>
            </a:r>
            <a:r>
              <a:rPr lang="en-US" sz="7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이 이웃 기반 유사도 분석을 통해 가장 정밀한 탐지 성능을 </a:t>
            </a:r>
            <a:r>
              <a:rPr lang="en-US" sz="7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기록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625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결론 및 향후 과제: 데이터 이해가 핵심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588982"/>
            <a:ext cx="3971925" cy="10715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588982"/>
            <a:ext cx="14288" cy="1071563"/>
          </a:xfrm>
          <a:prstGeom prst="rect">
            <a:avLst/>
          </a:prstGeom>
          <a:solidFill>
            <a:srgbClr val="087F5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721141"/>
            <a:ext cx="10715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406" y="1696138"/>
            <a:ext cx="12251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정확도의 함정 탈피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1525" y="1974745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불균형 데이터에서 Accuracy는 무의미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비즈니스 목적에 맞는 </a:t>
            </a:r>
            <a:r>
              <a:rPr lang="en-US" sz="8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F1-Score와 Recall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중심의 평가 체계 수립이 필수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657725" y="1588982"/>
            <a:ext cx="3971925" cy="10715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4657725" y="1588982"/>
            <a:ext cx="14288" cy="1071563"/>
          </a:xfrm>
          <a:prstGeom prst="rect">
            <a:avLst/>
          </a:prstGeom>
          <a:solidFill>
            <a:srgbClr val="087F5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721141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0" y="1696138"/>
            <a:ext cx="12251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전략적 데이터 증강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800600" y="1974745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SMOTE는 강력하지만 </a:t>
            </a:r>
            <a:r>
              <a:rPr lang="en-US" sz="8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학습 데이터에만 적용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테스트 데이터 오염 방지가 모델 신뢰성의 핵심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28650" y="2717695"/>
            <a:ext cx="3971925" cy="10715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28650" y="2717695"/>
            <a:ext cx="14288" cy="1071563"/>
          </a:xfrm>
          <a:prstGeom prst="rect">
            <a:avLst/>
          </a:prstGeom>
          <a:solidFill>
            <a:srgbClr val="087F5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849854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0125" y="2824851"/>
            <a:ext cx="11054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Recall 우선 원칙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771525" y="3103457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이상거래 탐지에서는 사기를 놓치는 비용(FN)이 오탐 비용(FP)보다 큼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Recall(재현율)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을 최우선으로 최적화 필요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657725" y="2717695"/>
            <a:ext cx="3971925" cy="10715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57725" y="2717695"/>
            <a:ext cx="14288" cy="1071563"/>
          </a:xfrm>
          <a:prstGeom prst="rect">
            <a:avLst/>
          </a:prstGeom>
          <a:solidFill>
            <a:srgbClr val="087F5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849854"/>
            <a:ext cx="178594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64919" y="2824851"/>
            <a:ext cx="108227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모델별 맞춤 전략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800600" y="3103457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모든 모델에 동일한 전처리를 적용하기보다, </a:t>
            </a:r>
            <a:r>
              <a:rPr lang="en-US" sz="850" dirty="0">
                <a:solidFill>
                  <a:srgbClr val="495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알고리즘의 특성(연산 복잡도, 가정 등)</a:t>
            </a:r>
            <a:r>
              <a:rPr lang="en-US" sz="850" dirty="0">
                <a:solidFill>
                  <a:srgbClr val="49505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에 맞는 개별 전략이 성능을 결정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628650" y="3860695"/>
            <a:ext cx="8001000" cy="1042988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25" name="Shape 18"/>
          <p:cNvSpPr/>
          <p:nvPr/>
        </p:nvSpPr>
        <p:spPr>
          <a:xfrm>
            <a:off x="628650" y="3860695"/>
            <a:ext cx="14288" cy="1042988"/>
          </a:xfrm>
          <a:prstGeom prst="rect">
            <a:avLst/>
          </a:prstGeom>
          <a:solidFill>
            <a:srgbClr val="087F5B"/>
          </a:solidFill>
          <a:ln/>
        </p:spPr>
      </p:sp>
      <p:sp>
        <p:nvSpPr>
          <p:cNvPr id="26" name="Text 19"/>
          <p:cNvSpPr/>
          <p:nvPr/>
        </p:nvSpPr>
        <p:spPr>
          <a:xfrm>
            <a:off x="885825" y="4003570"/>
            <a:ext cx="74866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7F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NEXT STEPS &amp; FUTURE WORK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85825" y="4280390"/>
            <a:ext cx="2409816" cy="482203"/>
          </a:xfrm>
          <a:prstGeom prst="rect">
            <a:avLst/>
          </a:prstGeom>
          <a:noFill/>
          <a:ln/>
        </p:spPr>
        <p:txBody>
          <a:bodyPr wrap="square" lIns="0" tIns="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피처 엔지니어링 강화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V14 등 핵심 지표를 활용한 파생 변수 생성으로 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탐지력 고도화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3424228" y="4280390"/>
            <a:ext cx="2409816" cy="482203"/>
          </a:xfrm>
          <a:prstGeom prst="rect">
            <a:avLst/>
          </a:prstGeom>
          <a:noFill/>
          <a:ln/>
        </p:spPr>
        <p:txBody>
          <a:bodyPr wrap="square" lIns="0" tIns="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하이퍼파라미터 튜닝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XGBoost, LightGBM의 정밀 튜닝을 통한 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F1-Score 0.85+ 달성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962631" y="4280390"/>
            <a:ext cx="2409816" cy="482203"/>
          </a:xfrm>
          <a:prstGeom prst="rect">
            <a:avLst/>
          </a:prstGeom>
          <a:noFill/>
          <a:ln/>
        </p:spPr>
        <p:txBody>
          <a:bodyPr wrap="square" lIns="0" tIns="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실시간 탐지 시스템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추론 속도가 빠른 모델을 활용한 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
</a:t>
            </a:r>
            <a:r>
              <a:rPr lang="en-US" sz="800" dirty="0">
                <a:solidFill>
                  <a:srgbClr val="F8F9F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실시간 이상거래 차단 파이프라인 구축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2026-05-16T14:17:29Z</dcterms:created>
  <dcterms:modified xsi:type="dcterms:W3CDTF">2026-05-16T14:17:29Z</dcterms:modified>
</cp:coreProperties>
</file>